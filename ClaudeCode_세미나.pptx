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4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 i="0">
                <a:solidFill>
                  <a:srgbClr val="2E86DE"/>
                </a:solidFill>
                <a:latin typeface="맑은 고딕"/>
              </a:rPr>
              <a:t>AI 와 함께 연구하기</a:t>
            </a:r>
          </a:p>
          <a:p>
            <a:pPr>
              <a:spcBef>
                <a:spcPts val="600"/>
              </a:spcBef>
            </a:pPr>
            <a:r>
              <a:rPr sz="4400" b="1" i="0">
                <a:solidFill>
                  <a:srgbClr val="FFFFFF"/>
                </a:solidFill>
                <a:latin typeface="맑은 고딕"/>
              </a:rPr>
              <a:t>VS Code · Git/GitHub · Claude Code</a:t>
            </a:r>
          </a:p>
          <a:p>
            <a:pPr>
              <a:spcBef>
                <a:spcPts val="1400"/>
              </a:spcBef>
            </a:pPr>
            <a:r>
              <a:rPr sz="1800" b="0" i="0">
                <a:solidFill>
                  <a:srgbClr val="C9D6EA"/>
                </a:solidFill>
                <a:latin typeface="맑은 고딕"/>
              </a:rPr>
              <a:t>코드를 직접 짜지 않고, 대화로 데이터 분석을 끝내기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F5A623"/>
                </a:solidFill>
                <a:latin typeface="맑은 고딕"/>
              </a:rPr>
              <a:t>실제 사례 :  레이저 초음파 시편 결함검출 — 오실로스코프 원본 데이터 분석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AEB9CC"/>
                </a:solidFill>
                <a:latin typeface="맑은 고딕"/>
              </a:rPr>
              <a:t>연구실 세미나   ·   10–15분   ·   입문자 대상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2E86DE"/>
                </a:solidFill>
                <a:latin typeface="맑은 고딕"/>
              </a:rPr>
              <a:t>WHY</a:t>
            </a:r>
          </a:p>
          <a:p>
            <a:r>
              <a:rPr sz="2600" b="1" i="0">
                <a:solidFill>
                  <a:srgbClr val="FFFFFF"/>
                </a:solidFill>
                <a:latin typeface="맑은 고딕"/>
              </a:rPr>
              <a:t>오늘 세미나의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 i="0">
                <a:solidFill>
                  <a:srgbClr val="333740"/>
                </a:solidFill>
                <a:latin typeface="맑은 고딕"/>
              </a:rPr>
              <a:t>●  코딩이 전공이 아니어도, 연구에 필요한 분석 코드를 빠르게 만들 수 있다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 i="0">
                <a:solidFill>
                  <a:srgbClr val="333740"/>
                </a:solidFill>
                <a:latin typeface="맑은 고딕"/>
              </a:rPr>
              <a:t>●  세 가지 도구가 어떻게 맞물려 돌아가는지 '큰 그림'을 잡는다</a:t>
            </a:r>
          </a:p>
          <a:p>
            <a:pPr lvl="1">
              <a:lnSpc>
                <a:spcPct val="110000"/>
              </a:lnSpc>
              <a:spcAft>
                <a:spcPts val="1200"/>
              </a:spcAft>
            </a:pPr>
            <a:r>
              <a:rPr sz="1700" b="0" i="0">
                <a:solidFill>
                  <a:srgbClr val="555A66"/>
                </a:solidFill>
                <a:latin typeface="맑은 고딕"/>
              </a:rPr>
              <a:t>–  VS Code = 작업 공간 ·  Git/GitHub = 기록·공유 ·  Claude Code = AI 조수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 i="0">
                <a:solidFill>
                  <a:srgbClr val="333740"/>
                </a:solidFill>
                <a:latin typeface="맑은 고딕"/>
              </a:rPr>
              <a:t>●  실제 레이저 초음파 데이터 분석이 어떻게 진행됐는지 직접 본다</a:t>
            </a:r>
          </a:p>
          <a:p>
            <a:pPr>
              <a:lnSpc>
                <a:spcPct val="110000"/>
              </a:lnSpc>
              <a:spcAft>
                <a:spcPts val="1600"/>
              </a:spcAft>
            </a:pPr>
            <a:r>
              <a:rPr sz="1900" b="1" i="0">
                <a:solidFill>
                  <a:srgbClr val="333740"/>
                </a:solidFill>
                <a:latin typeface="맑은 고딕"/>
              </a:rPr>
              <a:t>●  내 연구에 오늘 바로 적용할 수 있는 출발점을 얻는다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A66"/>
                </a:solidFill>
                <a:latin typeface="맑은 고딕"/>
              </a:rPr>
              <a:t>Claude Code 활용 세미나   ·   레이저 초음파 데이터 분석 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55A66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2E86DE"/>
                </a:solidFill>
                <a:latin typeface="맑은 고딕"/>
              </a:rPr>
              <a:t>AGENDA</a:t>
            </a:r>
          </a:p>
          <a:p>
            <a:r>
              <a:rPr sz="2600" b="1" i="0">
                <a:solidFill>
                  <a:srgbClr val="FFFFFF"/>
                </a:solidFill>
                <a:latin typeface="맑은 고딕"/>
              </a:rPr>
              <a:t>발표 순서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640080" cy="6400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41732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333740"/>
                </a:solidFill>
                <a:latin typeface="맑은 고딕"/>
              </a:rPr>
              <a:t>왜 필요한가   —   연구자의 코딩 현실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50008"/>
            <a:ext cx="640080" cy="6400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350008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350008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333740"/>
                </a:solidFill>
                <a:latin typeface="맑은 고딕"/>
              </a:rPr>
              <a:t>도구 3종 소개   —   VS Code · Git/GitHub · Claude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82696"/>
            <a:ext cx="640080" cy="6400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282696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282696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333740"/>
                </a:solidFill>
                <a:latin typeface="맑은 고딕"/>
              </a:rPr>
              <a:t>동작 원리   —   대화 → 코드 → 실행 → 결과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15384"/>
            <a:ext cx="640080" cy="6400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215384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215384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333740"/>
                </a:solidFill>
                <a:latin typeface="맑은 고딕"/>
              </a:rPr>
              <a:t>실제 사례   —   레이저 초음파 데이터 분석 전 과정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148072"/>
            <a:ext cx="640080" cy="6400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148072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148072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i="0">
                <a:solidFill>
                  <a:srgbClr val="333740"/>
                </a:solidFill>
                <a:latin typeface="맑은 고딕"/>
              </a:rPr>
              <a:t>실전 팁 &amp; 주의   —   좋은 프롬프트 · 검증 · 시작하기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A66"/>
                </a:solidFill>
                <a:latin typeface="맑은 고딕"/>
              </a:rPr>
              <a:t>Claude Code 활용 세미나   ·   레이저 초음파 데이터 분석 사례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55A66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2E86DE"/>
                </a:solidFill>
                <a:latin typeface="맑은 고딕"/>
              </a:rPr>
              <a:t>WHY</a:t>
            </a:r>
          </a:p>
          <a:p>
            <a:r>
              <a:rPr sz="2600" b="1" i="0">
                <a:solidFill>
                  <a:srgbClr val="FFFFFF"/>
                </a:solidFill>
                <a:latin typeface="맑은 고딕"/>
              </a:rPr>
              <a:t>연구자의 코딩 현실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394960" cy="1508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9728" cy="150876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81328"/>
            <a:ext cx="49834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1F2A44"/>
                </a:solidFill>
                <a:latin typeface="맑은 고딕"/>
              </a:rPr>
              <a:t>“분석 코드 짜는 데 시간이 다 간다”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200" b="0" i="0">
                <a:solidFill>
                  <a:srgbClr val="555A66"/>
                </a:solidFill>
                <a:latin typeface="맑은 고딕"/>
              </a:rPr>
              <a:t>측정 데이터 포맷 파악, 필터·FFT·시각화…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200" b="0" i="0">
                <a:solidFill>
                  <a:srgbClr val="555A66"/>
                </a:solidFill>
                <a:latin typeface="맑은 고딕"/>
              </a:rPr>
              <a:t>본 연구보다 코드에 시간이 더 든다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394960" cy="1508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109728" cy="150876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1481328"/>
            <a:ext cx="49834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1F2A44"/>
                </a:solidFill>
                <a:latin typeface="맑은 고딕"/>
              </a:rPr>
              <a:t>“새 언어·툴은 배울 엄두가 안 난다”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200" b="0" i="0">
                <a:solidFill>
                  <a:srgbClr val="555A66"/>
                </a:solidFill>
                <a:latin typeface="맑은 고딕"/>
              </a:rPr>
              <a:t>MATLAB? Python? 문법부터 막힌다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200" b="0" i="0">
                <a:solidFill>
                  <a:srgbClr val="555A66"/>
                </a:solidFill>
                <a:latin typeface="맑은 고딕"/>
              </a:rPr>
              <a:t>예제 찾고 검색하다 하루가 간다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08960"/>
            <a:ext cx="5394960" cy="1508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3108960"/>
            <a:ext cx="109728" cy="15087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3218688"/>
            <a:ext cx="49834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1F2A44"/>
                </a:solidFill>
                <a:latin typeface="맑은 고딕"/>
              </a:rPr>
              <a:t>“에러 한 줄에 반나절”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200" b="0" i="0">
                <a:solidFill>
                  <a:srgbClr val="555A66"/>
                </a:solidFill>
                <a:latin typeface="맑은 고딕"/>
              </a:rPr>
              <a:t>NaN, 차원 안 맞음, 라이브러리 충돌…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200" b="0" i="0">
                <a:solidFill>
                  <a:srgbClr val="555A66"/>
                </a:solidFill>
                <a:latin typeface="맑은 고딕"/>
              </a:rPr>
              <a:t>디버깅이 가장 큰 병목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108960"/>
            <a:ext cx="5394960" cy="15087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3108960"/>
            <a:ext cx="109728" cy="1508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3218688"/>
            <a:ext cx="49834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1F2A44"/>
                </a:solidFill>
                <a:latin typeface="맑은 고딕"/>
              </a:rPr>
              <a:t>“재현·인수인계가 안 된다”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200" b="0" i="0">
                <a:solidFill>
                  <a:srgbClr val="555A66"/>
                </a:solidFill>
                <a:latin typeface="맑은 고딕"/>
              </a:rPr>
              <a:t>내 PC에서만 돌아가는 코드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200" b="0" i="0">
                <a:solidFill>
                  <a:srgbClr val="555A66"/>
                </a:solidFill>
                <a:latin typeface="맑은 고딕"/>
              </a:rPr>
              <a:t>졸업하면 사라지는 분석 노하우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92040"/>
            <a:ext cx="11064240" cy="9144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1F2A44"/>
                </a:solidFill>
                <a:latin typeface="맑은 고딕"/>
              </a:rPr>
              <a:t>→  이 네 가지를 VS Code · Git/GitHub · Claude Code 조합이 정면으로 해결한다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A66"/>
                </a:solidFill>
                <a:latin typeface="맑은 고딕"/>
              </a:rPr>
              <a:t>Claude Code 활용 세미나   ·   레이저 초음파 데이터 분석 사례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55A66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2E86DE"/>
                </a:solidFill>
                <a:latin typeface="맑은 고딕"/>
              </a:rPr>
              <a:t>OVERVIEW</a:t>
            </a:r>
          </a:p>
          <a:p>
            <a:r>
              <a:rPr sz="2600" b="1" i="0">
                <a:solidFill>
                  <a:srgbClr val="FFFFFF"/>
                </a:solidFill>
                <a:latin typeface="맑은 고딕"/>
              </a:rPr>
              <a:t>세 가지 도구, 역할 분담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611880" cy="4206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09728" cy="420624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572768"/>
            <a:ext cx="32004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F2A44"/>
                </a:solidFill>
                <a:latin typeface="맑은 고딕"/>
              </a:rPr>
              <a:t>VS Code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endParaRPr sz="2200" b="1" i="0">
              <a:solidFill>
                <a:srgbClr val="1F2A44"/>
              </a:solidFill>
              <a:latin typeface="맑은 고딕"/>
            </a:endParaRP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코드 작성·실행이 이뤄지는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작업 공간(에디터)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endParaRPr sz="1300" b="0" i="0">
              <a:solidFill>
                <a:srgbClr val="555A66"/>
              </a:solidFill>
              <a:latin typeface="맑은 고딕"/>
            </a:endParaRP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무료, 가볍고 빠름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통합 터미널 내장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확장으로 기능 추가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endParaRPr sz="1300" b="0" i="0">
              <a:solidFill>
                <a:srgbClr val="555A66"/>
              </a:solidFill>
              <a:latin typeface="맑은 고딕"/>
            </a:endParaRP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→ 모든 작업의 '책상'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63040"/>
            <a:ext cx="3611880" cy="4206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109728" cy="420624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53712" y="1572768"/>
            <a:ext cx="32004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F2A44"/>
                </a:solidFill>
                <a:latin typeface="맑은 고딕"/>
              </a:rPr>
              <a:t>Git / GitHub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endParaRPr sz="2200" b="1" i="0">
              <a:solidFill>
                <a:srgbClr val="1F2A44"/>
              </a:solidFill>
              <a:latin typeface="맑은 고딕"/>
            </a:endParaRP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코드의 변경 이력을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기록·백업·공유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endParaRPr sz="1300" b="0" i="0">
              <a:solidFill>
                <a:srgbClr val="555A66"/>
              </a:solidFill>
              <a:latin typeface="맑은 고딕"/>
            </a:endParaRP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언제든 과거로 복구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클라우드 백업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동료와 협업·재현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endParaRPr sz="1300" b="0" i="0">
              <a:solidFill>
                <a:srgbClr val="555A66"/>
              </a:solidFill>
              <a:latin typeface="맑은 고딕"/>
            </a:endParaRP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→ 연구의 '실험노트'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463040"/>
            <a:ext cx="3611880" cy="4206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109728" cy="42062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572768"/>
            <a:ext cx="320040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F2A44"/>
                </a:solidFill>
                <a:latin typeface="맑은 고딕"/>
              </a:rPr>
              <a:t>Claude Code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endParaRPr sz="2200" b="1" i="0">
              <a:solidFill>
                <a:srgbClr val="1F2A44"/>
              </a:solidFill>
              <a:latin typeface="맑은 고딕"/>
            </a:endParaRP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대화로 코드를 짜고 실행해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주는 AI 에이전트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endParaRPr sz="1300" b="0" i="0">
              <a:solidFill>
                <a:srgbClr val="555A66"/>
              </a:solidFill>
              <a:latin typeface="맑은 고딕"/>
            </a:endParaRP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파일 읽기·쓰기·수정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직접 실행·디버깅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자연어로 지시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endParaRPr sz="1300" b="0" i="0">
              <a:solidFill>
                <a:srgbClr val="555A66"/>
              </a:solidFill>
              <a:latin typeface="맑은 고딕"/>
            </a:endParaRP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→ 옆자리 '코딩 조수'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A66"/>
                </a:solidFill>
                <a:latin typeface="맑은 고딕"/>
              </a:rPr>
              <a:t>Claude Code 활용 세미나   ·   레이저 초음파 데이터 분석 사례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55A66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2E86DE"/>
                </a:solidFill>
                <a:latin typeface="맑은 고딕"/>
              </a:rPr>
              <a:t>도구 ①</a:t>
            </a:r>
          </a:p>
          <a:p>
            <a:r>
              <a:rPr sz="2600" b="1" i="0">
                <a:solidFill>
                  <a:srgbClr val="FFFFFF"/>
                </a:solidFill>
                <a:latin typeface="맑은 고딕"/>
              </a:rPr>
              <a:t>VS Code 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 i="0">
                <a:solidFill>
                  <a:srgbClr val="333740"/>
                </a:solidFill>
                <a:latin typeface="맑은 고딕"/>
              </a:rPr>
              <a:t>●  Microsoft가 만든 무료 코드 에디터 (가장 널리 쓰임)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 i="0">
                <a:solidFill>
                  <a:srgbClr val="333740"/>
                </a:solidFill>
                <a:latin typeface="맑은 고딕"/>
              </a:rPr>
              <a:t>●  한 화면에서 코드 작성·실행·결과 확인을 모두 처리</a:t>
            </a:r>
          </a:p>
          <a:p>
            <a:pPr lvl="1">
              <a:lnSpc>
                <a:spcPct val="110000"/>
              </a:lnSpc>
              <a:spcAft>
                <a:spcPts val="1000"/>
              </a:spcAft>
            </a:pPr>
            <a:r>
              <a:rPr sz="1500" b="0" i="0">
                <a:solidFill>
                  <a:srgbClr val="555A66"/>
                </a:solidFill>
                <a:latin typeface="맑은 고딕"/>
              </a:rPr>
              <a:t>–  왼쪽: 파일 탐색기   /   가운데: 코드   /   아래: 통합 터미널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 i="0">
                <a:solidFill>
                  <a:srgbClr val="333740"/>
                </a:solidFill>
                <a:latin typeface="맑은 고딕"/>
              </a:rPr>
              <a:t>●  '확장(Extension)'으로 원하는 언어·기능을 자유롭게 추가</a:t>
            </a:r>
          </a:p>
          <a:p>
            <a:pPr lvl="1">
              <a:lnSpc>
                <a:spcPct val="110000"/>
              </a:lnSpc>
              <a:spcAft>
                <a:spcPts val="1000"/>
              </a:spcAft>
            </a:pPr>
            <a:r>
              <a:rPr sz="1500" b="0" i="0">
                <a:solidFill>
                  <a:srgbClr val="555A66"/>
                </a:solidFill>
                <a:latin typeface="맑은 고딕"/>
              </a:rPr>
              <a:t>–  Python, MATLAB, Git, 그리고 Claude Code 까지 한 곳에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700" b="1" i="0">
                <a:solidFill>
                  <a:srgbClr val="333740"/>
                </a:solidFill>
                <a:latin typeface="맑은 고딕"/>
              </a:rPr>
              <a:t>●  오늘 본 분석도 전부 VS Code 안에서 이뤄짐 (창을 떠나지 않음)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463040"/>
            <a:ext cx="4023360" cy="40233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589520" y="1463040"/>
            <a:ext cx="109728" cy="402336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45552" y="1572768"/>
            <a:ext cx="36118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1F2A44"/>
                </a:solidFill>
                <a:latin typeface="맑은 고딕"/>
              </a:rPr>
              <a:t>핵심 한 줄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endParaRPr sz="1800" b="1" i="0">
              <a:solidFill>
                <a:srgbClr val="1F2A44"/>
              </a:solidFill>
              <a:latin typeface="맑은 고딕"/>
            </a:endParaRP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연구에 필요한 모든 작업이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모이는 '디지털 작업 책상'.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endParaRPr sz="1400" b="0" i="0">
              <a:solidFill>
                <a:srgbClr val="555A66"/>
              </a:solidFill>
              <a:latin typeface="맑은 고딕"/>
            </a:endParaRP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에디터 + 터미널 + 확장이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하나로 통합되어 있어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도구를 옮겨다닐 필요가 없다.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A66"/>
                </a:solidFill>
                <a:latin typeface="맑은 고딕"/>
              </a:rPr>
              <a:t>Claude Code 활용 세미나   ·   레이저 초음파 데이터 분석 사례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55A66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2E86DE"/>
                </a:solidFill>
                <a:latin typeface="맑은 고딕"/>
              </a:rPr>
              <a:t>도구 ②</a:t>
            </a:r>
          </a:p>
          <a:p>
            <a:r>
              <a:rPr sz="2600" b="1" i="0">
                <a:solidFill>
                  <a:srgbClr val="FFFFFF"/>
                </a:solidFill>
                <a:latin typeface="맑은 고딕"/>
              </a:rPr>
              <a:t>Git / GitHub 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 i="0">
                <a:solidFill>
                  <a:srgbClr val="333740"/>
                </a:solidFill>
                <a:latin typeface="맑은 고딕"/>
              </a:rPr>
              <a:t>●  Git : 코드의 '변경 이력'을 스냅샷으로 저장하는 버전관리 도구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sz="1500" b="0" i="0">
                <a:solidFill>
                  <a:srgbClr val="555A66"/>
                </a:solidFill>
                <a:latin typeface="맑은 고딕"/>
              </a:rPr>
              <a:t>–  잘못돼도 언제든 과거 시점으로 되돌릴 수 있다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 i="0">
                <a:solidFill>
                  <a:srgbClr val="333740"/>
                </a:solidFill>
                <a:latin typeface="맑은 고딕"/>
              </a:rPr>
              <a:t>●  GitHub : 그 이력을 올려두는 클라우드 저장소 (백업 + 공유)</a:t>
            </a:r>
          </a:p>
          <a:p>
            <a:pPr>
              <a:lnSpc>
                <a:spcPct val="110000"/>
              </a:lnSpc>
              <a:spcAft>
                <a:spcPts val="1200"/>
              </a:spcAft>
            </a:pPr>
            <a:r>
              <a:rPr sz="1700" b="1" i="0">
                <a:solidFill>
                  <a:srgbClr val="333740"/>
                </a:solidFill>
                <a:latin typeface="맑은 고딕"/>
              </a:rPr>
              <a:t>●  연구에서 특히 중요한 이유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sz="1500" b="0" i="0">
                <a:solidFill>
                  <a:srgbClr val="555A66"/>
                </a:solidFill>
                <a:latin typeface="맑은 고딕"/>
              </a:rPr>
              <a:t>–  재현성: '어떤 코드로 이 결과를 냈는가'가 기록으로 남음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sz="1500" b="0" i="0">
                <a:solidFill>
                  <a:srgbClr val="555A66"/>
                </a:solidFill>
                <a:latin typeface="맑은 고딕"/>
              </a:rPr>
              <a:t>–  협업: 동료와 같은 코드를 안전하게 함께 수정</a:t>
            </a:r>
          </a:p>
          <a:p>
            <a:pPr lvl="1">
              <a:lnSpc>
                <a:spcPct val="110000"/>
              </a:lnSpc>
              <a:spcAft>
                <a:spcPts val="800"/>
              </a:spcAft>
            </a:pPr>
            <a:r>
              <a:rPr sz="1500" b="0" i="0">
                <a:solidFill>
                  <a:srgbClr val="555A66"/>
                </a:solidFill>
                <a:latin typeface="맑은 고딕"/>
              </a:rPr>
              <a:t>–  인수인계: 졸업·이직 후에도 분석이 사라지지 않음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463040"/>
            <a:ext cx="4023360" cy="40233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589520" y="1463040"/>
            <a:ext cx="109728" cy="402336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45552" y="1572768"/>
            <a:ext cx="36118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1F2A44"/>
                </a:solidFill>
                <a:latin typeface="맑은 고딕"/>
              </a:rPr>
              <a:t>비유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endParaRPr sz="1800" b="1" i="0">
              <a:solidFill>
                <a:srgbClr val="1F2A44"/>
              </a:solidFill>
              <a:latin typeface="맑은 고딕"/>
            </a:endParaRP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Git = 게임의 '세이브 파일'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endParaRPr sz="1400" b="0" i="0">
              <a:solidFill>
                <a:srgbClr val="555A66"/>
              </a:solidFill>
              <a:latin typeface="맑은 고딕"/>
            </a:endParaRP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위험한 시도 전에 저장하고,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실패하면 불러오기.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endParaRPr sz="1400" b="0" i="0">
              <a:solidFill>
                <a:srgbClr val="555A66"/>
              </a:solidFill>
              <a:latin typeface="맑은 고딕"/>
            </a:endParaRP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GitHub = 그 세이브를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클라우드에 올려 동료와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공유하는 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A66"/>
                </a:solidFill>
                <a:latin typeface="맑은 고딕"/>
              </a:rPr>
              <a:t>Claude Code 활용 세미나   ·   레이저 초음파 데이터 분석 사례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55A66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2E86DE"/>
                </a:solidFill>
                <a:latin typeface="맑은 고딕"/>
              </a:rPr>
              <a:t>도구 ③</a:t>
            </a:r>
          </a:p>
          <a:p>
            <a:r>
              <a:rPr sz="2600" b="1" i="0">
                <a:solidFill>
                  <a:srgbClr val="FFFFFF"/>
                </a:solidFill>
                <a:latin typeface="맑은 고딕"/>
              </a:rPr>
              <a:t>Claude Code 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6675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700" b="1" i="0">
                <a:solidFill>
                  <a:srgbClr val="333740"/>
                </a:solidFill>
                <a:latin typeface="맑은 고딕"/>
              </a:rPr>
              <a:t>●  터미널/VS Code 안에서 동작하는 AI 코딩 에이전트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700" b="1" i="0">
                <a:solidFill>
                  <a:srgbClr val="333740"/>
                </a:solidFill>
                <a:latin typeface="맑은 고딕"/>
              </a:rPr>
              <a:t>●  일반 챗봇과 결정적 차이 : 말만 하는 게 아니라 '직접 한다'</a:t>
            </a:r>
          </a:p>
          <a:p>
            <a:pPr lvl="1">
              <a:lnSpc>
                <a:spcPct val="110000"/>
              </a:lnSpc>
              <a:spcAft>
                <a:spcPts val="900"/>
              </a:spcAft>
            </a:pPr>
            <a:r>
              <a:rPr sz="1500" b="0" i="0">
                <a:solidFill>
                  <a:srgbClr val="555A66"/>
                </a:solidFill>
                <a:latin typeface="맑은 고딕"/>
              </a:rPr>
              <a:t>–  내 폴더의 파일을 직접 열어 읽고 (데이터 포맷 파악)</a:t>
            </a:r>
          </a:p>
          <a:p>
            <a:pPr lvl="1">
              <a:lnSpc>
                <a:spcPct val="110000"/>
              </a:lnSpc>
              <a:spcAft>
                <a:spcPts val="900"/>
              </a:spcAft>
            </a:pPr>
            <a:r>
              <a:rPr sz="1500" b="0" i="0">
                <a:solidFill>
                  <a:srgbClr val="555A66"/>
                </a:solidFill>
                <a:latin typeface="맑은 고딕"/>
              </a:rPr>
              <a:t>–  코드 파일을 직접 만들고 수정하고</a:t>
            </a:r>
          </a:p>
          <a:p>
            <a:pPr lvl="1">
              <a:lnSpc>
                <a:spcPct val="110000"/>
              </a:lnSpc>
              <a:spcAft>
                <a:spcPts val="900"/>
              </a:spcAft>
            </a:pPr>
            <a:r>
              <a:rPr sz="1500" b="0" i="0">
                <a:solidFill>
                  <a:srgbClr val="555A66"/>
                </a:solidFill>
                <a:latin typeface="맑은 고딕"/>
              </a:rPr>
              <a:t>–  프로그램을 직접 실행해 결과를 확인하고 버그를 고친다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700" b="1" i="0">
                <a:solidFill>
                  <a:srgbClr val="333740"/>
                </a:solidFill>
                <a:latin typeface="맑은 고딕"/>
              </a:rPr>
              <a:t>●  자연어로 지시 → 사람은 '무엇을' 원하는지만 말하면 됨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9520" y="1463040"/>
            <a:ext cx="4023360" cy="40233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589520" y="1463040"/>
            <a:ext cx="109728" cy="40233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45552" y="1572768"/>
            <a:ext cx="36118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1F2A44"/>
                </a:solidFill>
                <a:latin typeface="맑은 고딕"/>
              </a:rPr>
              <a:t>오늘의 놀라운 장면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endParaRPr sz="1800" b="1" i="0">
              <a:solidFill>
                <a:srgbClr val="1F2A44"/>
              </a:solidFill>
              <a:latin typeface="맑은 고딕"/>
            </a:endParaRP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MATLAB GUI 를 한 번도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띄우지 않고,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endParaRPr sz="1400" b="0" i="0">
              <a:solidFill>
                <a:srgbClr val="555A66"/>
              </a:solidFill>
              <a:latin typeface="맑은 고딕"/>
            </a:endParaRP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Claude 가 matlab 을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직접 실행(-batch)해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결과·그래프까지 뽑고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버그도 스스로 고침.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A66"/>
                </a:solidFill>
                <a:latin typeface="맑은 고딕"/>
              </a:rPr>
              <a:t>Claude Code 활용 세미나   ·   레이저 초음파 데이터 분석 사례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55A66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2E86DE"/>
                </a:solidFill>
                <a:latin typeface="맑은 고딕"/>
              </a:rPr>
              <a:t>HOW IT WORKS</a:t>
            </a:r>
          </a:p>
          <a:p>
            <a:r>
              <a:rPr sz="2600" b="1" i="0">
                <a:solidFill>
                  <a:srgbClr val="FFFFFF"/>
                </a:solidFill>
                <a:latin typeface="맑은 고딕"/>
              </a:rPr>
              <a:t>동작 원리 : 대화 한 번의 사이클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2606040" cy="24688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2606040" cy="64008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2606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</a:rPr>
              <a:t>①  요청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자연어로 지시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“이 데이터 분석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코드 짜줘”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127248" y="2880360"/>
            <a:ext cx="292608" cy="457200"/>
          </a:xfrm>
          <a:prstGeom prst="rightArrow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38144" y="1920240"/>
            <a:ext cx="2606040" cy="24688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38144" y="1920240"/>
            <a:ext cx="2606040" cy="64008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38144" y="1920240"/>
            <a:ext cx="2606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</a:rPr>
              <a:t>②  탐색·작성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2697480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파일을 직접 읽고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코드를 생성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62472" y="2880360"/>
            <a:ext cx="292608" cy="457200"/>
          </a:xfrm>
          <a:prstGeom prst="rightArrow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73368" y="1920240"/>
            <a:ext cx="2606040" cy="24688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73368" y="1920240"/>
            <a:ext cx="2606040" cy="6400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73368" y="1920240"/>
            <a:ext cx="2606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</a:rPr>
              <a:t>③  실행·검증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697480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직접 실행하고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에러를 디버깅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997696" y="2880360"/>
            <a:ext cx="292608" cy="457200"/>
          </a:xfrm>
          <a:prstGeom prst="rightArrow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08592" y="1920240"/>
            <a:ext cx="2606040" cy="24688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308592" y="1920240"/>
            <a:ext cx="2606040" cy="6400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08592" y="1920240"/>
            <a:ext cx="2606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</a:rPr>
              <a:t>④  결과·반복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2697480"/>
            <a:ext cx="23317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그래프·수치 확인</a:t>
            </a:r>
          </a:p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필요시 다시 수정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46320"/>
            <a:ext cx="1106424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484632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</a:rPr>
              <a:t>사람은 '무엇을·왜'에 집중하고, '어떻게(코드·실행·디버깅)'는 AI 가 담당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A66"/>
                </a:solidFill>
                <a:latin typeface="맑은 고딕"/>
              </a:rPr>
              <a:t>Claude Code 활용 세미나   ·   레이저 초음파 데이터 분석 사례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55A66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2E86DE"/>
                </a:solidFill>
                <a:latin typeface="맑은 고딕"/>
              </a:rPr>
              <a:t>CASE STUDY</a:t>
            </a:r>
          </a:p>
          <a:p>
            <a:r>
              <a:rPr sz="2600" b="1" i="0">
                <a:solidFill>
                  <a:srgbClr val="FFFFFF"/>
                </a:solidFill>
                <a:latin typeface="맑은 고딕"/>
              </a:rPr>
              <a:t>실제 사례 : 레이저 초음파 결함검출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67665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700" b="1" i="0">
                <a:solidFill>
                  <a:srgbClr val="333740"/>
                </a:solidFill>
                <a:latin typeface="맑은 고딕"/>
              </a:rPr>
              <a:t>●  목표 : 레이저 초음파로 시편 내부 결함을 검출하는 실험 데이터 분석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700" b="1" i="0">
                <a:solidFill>
                  <a:srgbClr val="333740"/>
                </a:solidFill>
                <a:latin typeface="맑은 고딕"/>
              </a:rPr>
              <a:t>●  가진 것 : 오실로스코프(LeCroy)에서 추출한 원본 .dat 파일 22개</a:t>
            </a:r>
          </a:p>
          <a:p>
            <a:pPr lvl="1">
              <a:lnSpc>
                <a:spcPct val="110000"/>
              </a:lnSpc>
              <a:spcAft>
                <a:spcPts val="900"/>
              </a:spcAft>
            </a:pPr>
            <a:r>
              <a:rPr sz="1500" b="0" i="0">
                <a:solidFill>
                  <a:srgbClr val="555A66"/>
                </a:solidFill>
                <a:latin typeface="맑은 고딕"/>
              </a:rPr>
              <a:t>–  시편 2종 × 라인스캔 11위치</a:t>
            </a:r>
          </a:p>
          <a:p>
            <a:pPr lvl="1">
              <a:lnSpc>
                <a:spcPct val="110000"/>
              </a:lnSpc>
              <a:spcAft>
                <a:spcPts val="900"/>
              </a:spcAft>
            </a:pPr>
            <a:r>
              <a:rPr sz="1500" b="0" i="0">
                <a:solidFill>
                  <a:srgbClr val="555A66"/>
                </a:solidFill>
                <a:latin typeface="맑은 고딕"/>
              </a:rPr>
              <a:t>–  파일당 100만 포인트, 시간 −20~180 µs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700" b="1" i="0">
                <a:solidFill>
                  <a:srgbClr val="333740"/>
                </a:solidFill>
                <a:latin typeface="맑은 고딕"/>
              </a:rPr>
              <a:t>●  출발점에 내가 아는 것 : 거의 없음 (포맷·샘플링조차 직접 안 봄)</a:t>
            </a:r>
          </a:p>
          <a:p>
            <a:pPr>
              <a:lnSpc>
                <a:spcPct val="110000"/>
              </a:lnSpc>
              <a:spcAft>
                <a:spcPts val="1300"/>
              </a:spcAft>
            </a:pPr>
            <a:r>
              <a:rPr sz="1700" b="1" i="0">
                <a:solidFill>
                  <a:srgbClr val="333740"/>
                </a:solidFill>
                <a:latin typeface="맑은 고딕"/>
              </a:rPr>
              <a:t>●  한 일 : Claude 에게 폴더를 주고 "분석 코드 짜줘" 라고 요청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0" y="1463040"/>
            <a:ext cx="3931920" cy="40233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80960" y="1463040"/>
            <a:ext cx="109728" cy="402336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36992" y="1572768"/>
            <a:ext cx="35204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 i="0">
                <a:solidFill>
                  <a:srgbClr val="1F2A44"/>
                </a:solidFill>
                <a:latin typeface="맑은 고딕"/>
              </a:rPr>
              <a:t>데이터 한눈에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endParaRPr sz="1700" b="1" i="0">
              <a:solidFill>
                <a:srgbClr val="1F2A44"/>
              </a:solidFill>
              <a:latin typeface="맑은 고딕"/>
            </a:endParaRP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 포맷: 2열 ASCII (시간, 전압)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 파일: C1--sample#--NNNNN.dat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 포인트: 1,000,002 개/파일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 샘플링: 5 GHz (Δt=0.2 ns)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 시편: sample1, sample2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 위치: 00000 ~ 00010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A66"/>
                </a:solidFill>
                <a:latin typeface="맑은 고딕"/>
              </a:rPr>
              <a:t>Claude Code 활용 세미나   ·   레이저 초음파 데이터 분석 사례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55A66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2E86DE"/>
                </a:solidFill>
                <a:latin typeface="맑은 고딕"/>
              </a:rPr>
              <a:t>CASE STUDY</a:t>
            </a:r>
          </a:p>
          <a:p>
            <a:r>
              <a:rPr sz="2600" b="1" i="0">
                <a:solidFill>
                  <a:srgbClr val="FFFFFF"/>
                </a:solidFill>
                <a:latin typeface="맑은 고딕"/>
              </a:rPr>
              <a:t>Step 1 — 자연어로 요청하기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>
                <a:solidFill>
                  <a:srgbClr val="555A66"/>
                </a:solidFill>
                <a:latin typeface="맑은 고딕"/>
              </a:rPr>
              <a:t>전문 용어도, 코드도 필요 없다. 평소 말하듯 요청한다.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0881360" cy="24688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029968"/>
            <a:ext cx="10552176" cy="22494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</a:pPr>
            <a:r>
              <a:rPr sz="1500" b="0" i="0">
                <a:solidFill>
                  <a:srgbClr val="9CDCFE"/>
                </a:solidFill>
                <a:latin typeface="Consolas"/>
              </a:rPr>
              <a:t>&gt; 현재 열려있는 프로젝트 경로는 레이저 초음파를 활용해 시편의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E6E6E6"/>
                </a:solidFill>
                <a:latin typeface="Consolas"/>
              </a:rPr>
              <a:t>  결함을 검출하는 실험에서 오실로스코프로 추출한 원본 데이터다.</a:t>
            </a:r>
          </a:p>
          <a:p>
            <a:pPr>
              <a:lnSpc>
                <a:spcPct val="105000"/>
              </a:lnSpc>
            </a:pPr>
            <a:endParaRPr sz="1500" b="0" i="0">
              <a:solidFill>
                <a:srgbClr val="E6E6E6"/>
              </a:solidFill>
              <a:latin typeface="Consolas"/>
            </a:endParaRP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9CDCFE"/>
                </a:solidFill>
                <a:latin typeface="Consolas"/>
              </a:rPr>
              <a:t>&gt; 이 데이터들을 분석하기 위한 방법론들을 MATLAB 코드로</a:t>
            </a: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E6E6E6"/>
                </a:solidFill>
                <a:latin typeface="Consolas"/>
              </a:rPr>
              <a:t>  구현해서 데이터 분석을 진행하고 싶어.</a:t>
            </a:r>
          </a:p>
          <a:p>
            <a:pPr>
              <a:lnSpc>
                <a:spcPct val="105000"/>
              </a:lnSpc>
            </a:pPr>
            <a:endParaRPr sz="1500" b="0" i="0">
              <a:solidFill>
                <a:srgbClr val="E6E6E6"/>
              </a:solidFill>
              <a:latin typeface="Consolas"/>
            </a:endParaRPr>
          </a:p>
          <a:p>
            <a:pPr>
              <a:lnSpc>
                <a:spcPct val="105000"/>
              </a:lnSpc>
            </a:pPr>
            <a:r>
              <a:rPr sz="1500" b="0" i="0">
                <a:solidFill>
                  <a:srgbClr val="9CDCFE"/>
                </a:solidFill>
                <a:latin typeface="Consolas"/>
              </a:rPr>
              <a:t>&gt; 데이터를 참고해서 적절한 분석용 MATLAB 코드를 작성해줘.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663440"/>
            <a:ext cx="10881360" cy="12344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4663440"/>
            <a:ext cx="109728" cy="123444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4773168"/>
            <a:ext cx="104698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1F2A44"/>
                </a:solidFill>
                <a:latin typeface="맑은 고딕"/>
              </a:rPr>
              <a:t>포인트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폴더 경로만 알려주면 Claude 가 알아서 파일을 열어 본다. 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'어떻게 짜라'가 아니라 '무엇을 하고 싶다'만 말하면 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A66"/>
                </a:solidFill>
                <a:latin typeface="맑은 고딕"/>
              </a:rPr>
              <a:t>Claude Code 활용 세미나   ·   레이저 초음파 데이터 분석 사례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55A66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2E86DE"/>
                </a:solidFill>
                <a:latin typeface="맑은 고딕"/>
              </a:rPr>
              <a:t>CASE STUDY</a:t>
            </a:r>
          </a:p>
          <a:p>
            <a:r>
              <a:rPr sz="2600" b="1" i="0">
                <a:solidFill>
                  <a:srgbClr val="FFFFFF"/>
                </a:solidFill>
                <a:latin typeface="맑은 고딕"/>
              </a:rPr>
              <a:t>Step 2 — AI 가 스스로 파악하고, 모르면 되묻는다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0" cy="20116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09728" cy="201168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527048"/>
            <a:ext cx="50749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1F2A44"/>
                </a:solidFill>
                <a:latin typeface="맑은 고딕"/>
              </a:rPr>
              <a:t>✔  스스로 알아낸 것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파일 22개 / 2열 ASCII 포맷 자동 인식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샘플링 5 GHz, 100만 포인트 계산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t=0 = 레이저 발사 시점(트리거) 추론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t&lt;0 구간은 노이즈 → SNR 추정에 활용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5394960" cy="20116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109728" cy="20116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73952" y="1527048"/>
            <a:ext cx="4983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1F2A44"/>
                </a:solidFill>
                <a:latin typeface="맑은 고딕"/>
              </a:rPr>
              <a:t>❓  애매해서 사람에게 물어본 것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11개 파일 = 반복측정? 위치별 스캔?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두 시편의 관계는? (기준 vs 결함?)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endParaRPr sz="1300" b="0" i="0">
              <a:solidFill>
                <a:srgbClr val="555A66"/>
              </a:solidFill>
              <a:latin typeface="맑은 고딕"/>
            </a:endParaRP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→ 객관식으로 질문 →  답: 라인스캔 /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    자동비교  →  분석 방향 확정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555A66"/>
                </a:solidFill>
                <a:latin typeface="맑은 고딕"/>
              </a:rPr>
              <a:t>실제로 받은 질문 화면 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14800"/>
            <a:ext cx="11064240" cy="15544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4224528"/>
            <a:ext cx="10735056" cy="1335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? 한 시편당 11개 파일(00000~00010)은 어떤 성격인가요?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  ○ 동일 지점 반복 측정      ● 라인 스캔(위치별)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? 두 시편(sample1, sample2)의 관계는?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E6E6E6"/>
                </a:solidFill>
                <a:latin typeface="Consolas"/>
              </a:rPr>
              <a:t>      ● 잘 모름 / 자동 비교      ○ 기준(건전) vs 결함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A66"/>
                </a:solidFill>
                <a:latin typeface="맑은 고딕"/>
              </a:rPr>
              <a:t>Claude Code 활용 세미나   ·   레이저 초음파 데이터 분석 사례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55A66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2E86DE"/>
                </a:solidFill>
                <a:latin typeface="맑은 고딕"/>
              </a:rPr>
              <a:t>CASE STUDY</a:t>
            </a:r>
          </a:p>
          <a:p>
            <a:r>
              <a:rPr sz="2600" b="1" i="0">
                <a:solidFill>
                  <a:srgbClr val="FFFFFF"/>
                </a:solidFill>
                <a:latin typeface="맑은 고딕"/>
              </a:rPr>
              <a:t>Step 3 — 모듈식 분석 코드 자동 생성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>
                <a:solidFill>
                  <a:srgbClr val="555A66"/>
                </a:solidFill>
                <a:latin typeface="맑은 고딕"/>
              </a:rPr>
              <a:t>한 덩어리가 아니라, 역할별로 나뉜 9개 파일을 체계적으로 생성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566160" cy="8412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91440" cy="84124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993392"/>
            <a:ext cx="32918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1F2A44"/>
                </a:solidFill>
                <a:latin typeface="Consolas"/>
              </a:rPr>
              <a:t>lu_config.m</a:t>
            </a:r>
          </a:p>
          <a:p>
            <a:r>
              <a:rPr sz="1200" b="0" i="0">
                <a:solidFill>
                  <a:srgbClr val="555A66"/>
                </a:solidFill>
                <a:latin typeface="맑은 고딕"/>
              </a:rPr>
              <a:t>모든 파라미터 중앙 설정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920240"/>
            <a:ext cx="3566160" cy="8412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70832" y="1920240"/>
            <a:ext cx="91440" cy="84124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993392"/>
            <a:ext cx="32918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1F2A44"/>
                </a:solidFill>
                <a:latin typeface="Consolas"/>
              </a:rPr>
              <a:t>lu_load_dat.m</a:t>
            </a:r>
          </a:p>
          <a:p>
            <a:r>
              <a:rPr sz="1200" b="0" i="0">
                <a:solidFill>
                  <a:srgbClr val="555A66"/>
                </a:solidFill>
                <a:latin typeface="맑은 고딕"/>
              </a:rPr>
              <a:t>오실로스코프 파일 읽기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1584" y="1920240"/>
            <a:ext cx="3566160" cy="8412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01584" y="1920240"/>
            <a:ext cx="91440" cy="84124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2752" y="1993392"/>
            <a:ext cx="32918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1F2A44"/>
                </a:solidFill>
                <a:latin typeface="Consolas"/>
              </a:rPr>
              <a:t>lu_preprocess.m</a:t>
            </a:r>
          </a:p>
          <a:p>
            <a:r>
              <a:rPr sz="1200" b="0" i="0">
                <a:solidFill>
                  <a:srgbClr val="555A66"/>
                </a:solidFill>
                <a:latin typeface="맑은 고딕"/>
              </a:rPr>
              <a:t>노이즈 제거·필터·SNR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907792"/>
            <a:ext cx="3566160" cy="8412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2907792"/>
            <a:ext cx="91440" cy="84124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2980944"/>
            <a:ext cx="32918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1F2A44"/>
                </a:solidFill>
                <a:latin typeface="Consolas"/>
              </a:rPr>
              <a:t>lu_time_analysis.m</a:t>
            </a:r>
          </a:p>
          <a:p>
            <a:r>
              <a:rPr sz="1200" b="0" i="0">
                <a:solidFill>
                  <a:srgbClr val="555A66"/>
                </a:solidFill>
                <a:latin typeface="맑은 고딕"/>
              </a:rPr>
              <a:t>도달시간(ToF)·에코·에너지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70832" y="2907792"/>
            <a:ext cx="3566160" cy="8412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70832" y="2907792"/>
            <a:ext cx="91440" cy="84124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2980944"/>
            <a:ext cx="32918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1F2A44"/>
                </a:solidFill>
                <a:latin typeface="Consolas"/>
              </a:rPr>
              <a:t>lu_freq_analysis.m</a:t>
            </a:r>
          </a:p>
          <a:p>
            <a:r>
              <a:rPr sz="1200" b="0" i="0">
                <a:solidFill>
                  <a:srgbClr val="555A66"/>
                </a:solidFill>
                <a:latin typeface="맑은 고딕"/>
              </a:rPr>
              <a:t>FFT·스펙트로그램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1584" y="2907792"/>
            <a:ext cx="3566160" cy="8412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01584" y="2907792"/>
            <a:ext cx="91440" cy="84124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02752" y="2980944"/>
            <a:ext cx="32918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1F2A44"/>
                </a:solidFill>
                <a:latin typeface="Consolas"/>
              </a:rPr>
              <a:t>lu_bscan.m</a:t>
            </a:r>
          </a:p>
          <a:p>
            <a:r>
              <a:rPr sz="1200" b="0" i="0">
                <a:solidFill>
                  <a:srgbClr val="555A66"/>
                </a:solidFill>
                <a:latin typeface="맑은 고딕"/>
              </a:rPr>
              <a:t>B-scan 영상 구성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895344"/>
            <a:ext cx="3566160" cy="8412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895344"/>
            <a:ext cx="91440" cy="84124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" y="3968496"/>
            <a:ext cx="32918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1F2A44"/>
                </a:solidFill>
                <a:latin typeface="Consolas"/>
              </a:rPr>
              <a:t>lu_compare.m</a:t>
            </a:r>
          </a:p>
          <a:p>
            <a:r>
              <a:rPr sz="1200" b="0" i="0">
                <a:solidFill>
                  <a:srgbClr val="555A66"/>
                </a:solidFill>
                <a:latin typeface="맑은 고딕"/>
              </a:rPr>
              <a:t>결함 후보 자동 판정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70832" y="3895344"/>
            <a:ext cx="3566160" cy="8412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70832" y="3895344"/>
            <a:ext cx="91440" cy="84124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0" y="3968496"/>
            <a:ext cx="32918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1F2A44"/>
                </a:solidFill>
                <a:latin typeface="Consolas"/>
              </a:rPr>
              <a:t>lu_plots.m</a:t>
            </a:r>
          </a:p>
          <a:p>
            <a:r>
              <a:rPr sz="1200" b="0" i="0">
                <a:solidFill>
                  <a:srgbClr val="555A66"/>
                </a:solidFill>
                <a:latin typeface="맑은 고딕"/>
              </a:rPr>
              <a:t>결과 시각화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01584" y="3895344"/>
            <a:ext cx="3566160" cy="84124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01584" y="3895344"/>
            <a:ext cx="91440" cy="841248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02752" y="3968496"/>
            <a:ext cx="329184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1F2A44"/>
                </a:solidFill>
                <a:latin typeface="Consolas"/>
              </a:rPr>
              <a:t>run_analysis.m</a:t>
            </a:r>
          </a:p>
          <a:p>
            <a:r>
              <a:rPr sz="1200" b="0" i="0">
                <a:solidFill>
                  <a:srgbClr val="555A66"/>
                </a:solidFill>
                <a:latin typeface="맑은 고딕"/>
              </a:rPr>
              <a:t>전체 실행 (메인)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12A59B"/>
                </a:solidFill>
                <a:latin typeface="맑은 고딕"/>
              </a:rPr>
              <a:t>→ 모듈식 구조라 나중에 한 부분만 수정·재사용하기 쉽다 (좋은 코드 습관까지 제공)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A66"/>
                </a:solidFill>
                <a:latin typeface="맑은 고딕"/>
              </a:rPr>
              <a:t>Claude Code 활용 세미나   ·   레이저 초음파 데이터 분석 사례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55A66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2E86DE"/>
                </a:solidFill>
                <a:latin typeface="맑은 고딕"/>
              </a:rPr>
              <a:t>CASE STUDY ★</a:t>
            </a:r>
          </a:p>
          <a:p>
            <a:r>
              <a:rPr sz="2600" b="1" i="0">
                <a:solidFill>
                  <a:srgbClr val="FFFFFF"/>
                </a:solidFill>
                <a:latin typeface="맑은 고딕"/>
              </a:rPr>
              <a:t>Step 4 — 직접 실행하고, 버그까지 스스로 고친다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0">
                <a:solidFill>
                  <a:srgbClr val="555A66"/>
                </a:solidFill>
                <a:latin typeface="맑은 고딕"/>
              </a:rPr>
              <a:t>GUI 없이 터미널에서 MATLAB 을 직접 호출 → 실행 → 문제 발견 → 수정 → 재실행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881360" cy="12344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892808"/>
            <a:ext cx="10552176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</a:pPr>
            <a:r>
              <a:rPr sz="1300" b="0" i="0">
                <a:solidFill>
                  <a:srgbClr val="9CDCFE"/>
                </a:solidFill>
                <a:latin typeface="Consolas"/>
              </a:rPr>
              <a:t>$ matlab -batch "run_analysis"      % GUI 없이 직접 실행</a:t>
            </a:r>
          </a:p>
          <a:p>
            <a:pPr>
              <a:lnSpc>
                <a:spcPct val="105000"/>
              </a:lnSpc>
            </a:pPr>
            <a:r>
              <a:rPr sz="1300" b="0" i="0">
                <a:solidFill>
                  <a:srgbClr val="E6E6E6"/>
                </a:solidFill>
                <a:latin typeface="Consolas"/>
              </a:rPr>
              <a:t>  ...</a:t>
            </a:r>
          </a:p>
          <a:p>
            <a:pPr>
              <a:lnSpc>
                <a:spcPct val="105000"/>
              </a:lnSpc>
            </a:pPr>
            <a:r>
              <a:rPr sz="1300" b="0" i="0">
                <a:solidFill>
                  <a:srgbClr val="6A9955"/>
                </a:solidFill>
                <a:latin typeface="Consolas"/>
              </a:rPr>
              <a:t>  % 결과: 모든 값이 NaN  ←  Claude 가 스스로 이상 감지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00400"/>
            <a:ext cx="5394960" cy="22402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3200400"/>
            <a:ext cx="109728" cy="22402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3310128"/>
            <a:ext cx="498348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1F2A44"/>
                </a:solidFill>
                <a:latin typeface="맑은 고딕"/>
              </a:rPr>
              <a:t>발견한 버그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5 GHz 에서 0.5 MHz 필터는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정규화 주파수가 0.0002 로 너무 낮아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필터가 수치적으로 불안정 → NaN.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endParaRPr sz="1300" b="0" i="0">
              <a:solidFill>
                <a:srgbClr val="555A66"/>
              </a:solidFill>
              <a:latin typeface="맑은 고딕"/>
            </a:endParaRP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(사람이면 한참 헤맬 함정)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200400"/>
            <a:ext cx="5394960" cy="22402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3200400"/>
            <a:ext cx="109728" cy="224028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3310128"/>
            <a:ext cx="498348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1F2A44"/>
                </a:solidFill>
                <a:latin typeface="맑은 고딕"/>
              </a:rPr>
              <a:t>스스로 한 해결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① 필터를 SOS(2차 섹션)로 재설계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   → 수치 안정화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② 신호대역에 맞춰 데시메이션 적용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③ 재실행 → 정상 결과 확인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endParaRPr sz="1300" b="0" i="0">
              <a:solidFill>
                <a:srgbClr val="555A66"/>
              </a:solidFill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A66"/>
                </a:solidFill>
                <a:latin typeface="맑은 고딕"/>
              </a:rPr>
              <a:t>Claude Code 활용 세미나   ·   레이저 초음파 데이터 분석 사례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55A66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2E86DE"/>
                </a:solidFill>
                <a:latin typeface="맑은 고딕"/>
              </a:rPr>
              <a:t>CASE STUDY</a:t>
            </a:r>
          </a:p>
          <a:p>
            <a:r>
              <a:rPr sz="2600" b="1" i="0">
                <a:solidFill>
                  <a:srgbClr val="FFFFFF"/>
                </a:solidFill>
                <a:latin typeface="맑은 고딕"/>
              </a:rPr>
              <a:t>Step 5 — 결과물 : 그래프와 결함 후보까지</a:t>
            </a:r>
          </a:p>
        </p:txBody>
      </p:sp>
      <p:pic>
        <p:nvPicPr>
          <p:cNvPr id="5" name="Picture 4" descr="fig4_b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4535849" cy="2743200"/>
          </a:xfrm>
          <a:prstGeom prst="rect">
            <a:avLst/>
          </a:prstGeom>
        </p:spPr>
      </p:pic>
      <p:pic>
        <p:nvPicPr>
          <p:cNvPr id="6" name="Picture 5" descr="fig5_feat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60520"/>
            <a:ext cx="3604515" cy="2468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0" y="1371600"/>
            <a:ext cx="5303520" cy="48006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109728" cy="48006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56832" y="1481328"/>
            <a:ext cx="4892040" cy="4617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1F2A44"/>
                </a:solidFill>
                <a:latin typeface="맑은 고딕"/>
              </a:rPr>
              <a:t>자동으로 얻은 것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endParaRPr sz="1600" b="1" i="0">
              <a:solidFill>
                <a:srgbClr val="1F2A44"/>
              </a:solidFill>
              <a:latin typeface="맑은 고딕"/>
            </a:endParaRP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 B-scan 영상 (위치 × 시간 에너지)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 A-scan·포락선·FFT·스펙트로그램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 위치별 특징곡선 (진폭·ToF·주파수)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endParaRPr sz="1300" b="0" i="0">
              <a:solidFill>
                <a:srgbClr val="555A66"/>
              </a:solidFill>
              <a:latin typeface="맑은 고딕"/>
            </a:endParaRP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 결함 후보 자동 검출 (통계적 이상치)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    → sample1 위치 8 이 이상치로 표시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 주파수 1.0→0.6 MHz 하락 등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    해석 가능한 물리적 패턴 포착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endParaRPr sz="1300" b="0" i="0">
              <a:solidFill>
                <a:srgbClr val="555A66"/>
              </a:solidFill>
              <a:latin typeface="맑은 고딕"/>
            </a:endParaRP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·  그림 5종(PNG) · CSV · MAT 파일 저장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endParaRPr sz="1300" b="0" i="0">
              <a:solidFill>
                <a:srgbClr val="555A66"/>
              </a:solidFill>
              <a:latin typeface="맑은 고딕"/>
            </a:endParaRP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→ 파라미터(두께·음속·간격)만 넣으면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300" b="0" i="0">
                <a:solidFill>
                  <a:srgbClr val="555A66"/>
                </a:solidFill>
                <a:latin typeface="맑은 고딕"/>
              </a:rPr>
              <a:t>   정량적 깊이까지 바로 확장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A66"/>
                </a:solidFill>
                <a:latin typeface="맑은 고딕"/>
              </a:rPr>
              <a:t>Claude Code 활용 세미나   ·   레이저 초음파 데이터 분석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55A66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2E86DE"/>
                </a:solidFill>
                <a:latin typeface="맑은 고딕"/>
              </a:rPr>
              <a:t>WORKFLOW</a:t>
            </a:r>
          </a:p>
          <a:p>
            <a:r>
              <a:rPr sz="2600" b="1" i="0">
                <a:solidFill>
                  <a:srgbClr val="FFFFFF"/>
                </a:solidFill>
                <a:latin typeface="맑은 고딕"/>
              </a:rPr>
              <a:t>마무리 : Git/GitHub 로 기록하고 공유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0">
                <a:solidFill>
                  <a:srgbClr val="555A66"/>
                </a:solidFill>
                <a:latin typeface="맑은 고딕"/>
              </a:rPr>
              <a:t>생성된 코드와 결과를 버전관리에 올리면 '재현 가능한 연구'가 완성된다.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10881360" cy="24688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984247"/>
            <a:ext cx="10552176" cy="22494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</a:pPr>
            <a:r>
              <a:rPr sz="1400" b="0" i="0">
                <a:solidFill>
                  <a:srgbClr val="9CDCFE"/>
                </a:solidFill>
                <a:latin typeface="Consolas"/>
              </a:rPr>
              <a:t>$ git init                       # 저장소 시작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9CDCFE"/>
                </a:solidFill>
                <a:latin typeface="Consolas"/>
              </a:rPr>
              <a:t>$ git add .                      # 변경사항 담기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9CDCFE"/>
                </a:solidFill>
                <a:latin typeface="Consolas"/>
              </a:rPr>
              <a:t>$ git commit -m "LU 분석 코드 추가"  # 스냅샷 저장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9CDCFE"/>
                </a:solidFill>
                <a:latin typeface="Consolas"/>
              </a:rPr>
              <a:t>$ git push                       # GitHub 에 백업·공유</a:t>
            </a:r>
          </a:p>
          <a:p>
            <a:pPr>
              <a:lnSpc>
                <a:spcPct val="105000"/>
              </a:lnSpc>
            </a:pPr>
            <a:endParaRPr sz="1400" b="0" i="0">
              <a:solidFill>
                <a:srgbClr val="9CDCFE"/>
              </a:solidFill>
              <a:latin typeface="Consolas"/>
            </a:endParaRP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6A9955"/>
                </a:solidFill>
                <a:latin typeface="Consolas"/>
              </a:rPr>
              <a:t># 이 모든 명령도 Claude 에게 "커밋하고 푸시해줘" 라고</a:t>
            </a:r>
          </a:p>
          <a:p>
            <a:pPr>
              <a:lnSpc>
                <a:spcPct val="105000"/>
              </a:lnSpc>
            </a:pPr>
            <a:r>
              <a:rPr sz="1400" b="0" i="0">
                <a:solidFill>
                  <a:srgbClr val="6A9955"/>
                </a:solidFill>
                <a:latin typeface="Consolas"/>
              </a:rPr>
              <a:t># 부탁하면 대신 실행해 준다.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572000"/>
            <a:ext cx="10881360" cy="132588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4572000"/>
            <a:ext cx="109728" cy="132588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4681728"/>
            <a:ext cx="104698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1F2A44"/>
                </a:solidFill>
                <a:latin typeface="맑은 고딕"/>
              </a:rPr>
              <a:t>얻는 것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언제든 과거로 복구 · 동료와 협업 · 졸업 후에도 남는 분석 · 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400" b="0" i="0">
                <a:solidFill>
                  <a:srgbClr val="555A66"/>
                </a:solidFill>
                <a:latin typeface="맑은 고딕"/>
              </a:rPr>
              <a:t>'이 코드로 이 결과를 냈다'는 완전한 재현 기록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A66"/>
                </a:solidFill>
                <a:latin typeface="맑은 고딕"/>
              </a:rPr>
              <a:t>Claude Code 활용 세미나   ·   레이저 초음파 데이터 분석 사례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55A66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2E86DE"/>
                </a:solidFill>
                <a:latin typeface="맑은 고딕"/>
              </a:rPr>
              <a:t>TIPS</a:t>
            </a:r>
          </a:p>
          <a:p>
            <a:r>
              <a:rPr sz="2600" b="1" i="0">
                <a:solidFill>
                  <a:srgbClr val="FFFFFF"/>
                </a:solidFill>
                <a:latin typeface="맑은 고딕"/>
              </a:rPr>
              <a:t>실전 팁 : 좋은 요청 = 좋은 결과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40680" cy="18288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09728" cy="1828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527048"/>
            <a:ext cx="5029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1F2A44"/>
                </a:solidFill>
                <a:latin typeface="맑은 고딕"/>
              </a:rPr>
              <a:t>① 맥락을 준다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200" b="0" i="0">
                <a:solidFill>
                  <a:srgbClr val="555A66"/>
                </a:solidFill>
                <a:latin typeface="맑은 고딕"/>
              </a:rPr>
              <a:t>무엇을 하는 데이터인지, 목표가 무엇인지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200" b="0" i="0">
                <a:solidFill>
                  <a:srgbClr val="555A66"/>
                </a:solidFill>
                <a:latin typeface="맑은 고딕"/>
              </a:rPr>
              <a:t>한두 줄이라도 배경을 설명한다.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417320"/>
            <a:ext cx="5440680" cy="18288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99632" y="1417320"/>
            <a:ext cx="109728" cy="1828800"/>
          </a:xfrm>
          <a:prstGeom prst="rect">
            <a:avLst/>
          </a:prstGeom>
          <a:solidFill>
            <a:srgbClr val="12A5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5664" y="1527048"/>
            <a:ext cx="5029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1F2A44"/>
                </a:solidFill>
                <a:latin typeface="맑은 고딕"/>
              </a:rPr>
              <a:t>② 구체적으로 말한다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200" b="0" i="0">
                <a:solidFill>
                  <a:srgbClr val="555A66"/>
                </a:solidFill>
                <a:latin typeface="맑은 고딕"/>
              </a:rPr>
              <a:t>"분석해줘" 보다 "FFT 로 주파수 분석하고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200" b="0" i="0">
                <a:solidFill>
                  <a:srgbClr val="555A66"/>
                </a:solidFill>
                <a:latin typeface="맑은 고딕"/>
              </a:rPr>
              <a:t>그래프로 보여줘" 가 훨씬 낫다.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83280"/>
            <a:ext cx="5440680" cy="18288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" y="3383280"/>
            <a:ext cx="109728" cy="18288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3493008"/>
            <a:ext cx="5029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1F2A44"/>
                </a:solidFill>
                <a:latin typeface="맑은 고딕"/>
              </a:rPr>
              <a:t>③ 단계적으로 진행한다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200" b="0" i="0">
                <a:solidFill>
                  <a:srgbClr val="555A66"/>
                </a:solidFill>
                <a:latin typeface="맑은 고딕"/>
              </a:rPr>
              <a:t>한 번에 다 시키기보다, 만들고→확인하고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200" b="0" i="0">
                <a:solidFill>
                  <a:srgbClr val="555A66"/>
                </a:solidFill>
                <a:latin typeface="맑은 고딕"/>
              </a:rPr>
              <a:t>→ 다음을 요청하며 키워간다.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3383280"/>
            <a:ext cx="5440680" cy="18288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9632" y="3383280"/>
            <a:ext cx="109728" cy="18288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3493008"/>
            <a:ext cx="5029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>
                <a:solidFill>
                  <a:srgbClr val="1F2A44"/>
                </a:solidFill>
                <a:latin typeface="맑은 고딕"/>
              </a:rPr>
              <a:t>④ 검증을 요청한다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200" b="0" i="0">
                <a:solidFill>
                  <a:srgbClr val="555A66"/>
                </a:solidFill>
                <a:latin typeface="맑은 고딕"/>
              </a:rPr>
              <a:t>"실제로 실행해서 결과 확인해줘",</a:t>
            </a:r>
          </a:p>
          <a:p>
            <a:pPr>
              <a:lnSpc>
                <a:spcPct val="108000"/>
              </a:lnSpc>
              <a:spcBef>
                <a:spcPts val="300"/>
              </a:spcBef>
            </a:pPr>
            <a:r>
              <a:rPr sz="1200" b="0" i="0">
                <a:solidFill>
                  <a:srgbClr val="555A66"/>
                </a:solidFill>
                <a:latin typeface="맑은 고딕"/>
              </a:rPr>
              <a:t>"테스트도 만들어줘" 라고 명시한다.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94960"/>
            <a:ext cx="11064240" cy="59436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5394960"/>
            <a:ext cx="110642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1F2A44"/>
                </a:solidFill>
                <a:latin typeface="맑은 고딕"/>
              </a:rPr>
              <a:t>모르면 "이거 왜 이렇게 했어?" 라고 되물어도 된다 — 설명까지 해준다.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A66"/>
                </a:solidFill>
                <a:latin typeface="맑은 고딕"/>
              </a:rPr>
              <a:t>Claude Code 활용 세미나   ·   레이저 초음파 데이터 분석 사례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55A66"/>
                </a:solidFill>
                <a:latin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 i="0">
                <a:solidFill>
                  <a:srgbClr val="2E86DE"/>
                </a:solidFill>
                <a:latin typeface="맑은 고딕"/>
              </a:rPr>
              <a:t>CAUTION</a:t>
            </a:r>
          </a:p>
          <a:p>
            <a:r>
              <a:rPr sz="2600" b="1" i="0">
                <a:solidFill>
                  <a:srgbClr val="FFFFFF"/>
                </a:solidFill>
                <a:latin typeface="맑은 고딕"/>
              </a:rPr>
              <a:t>꼭 기억할 한계와 주의점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1500"/>
              </a:spcAft>
            </a:pPr>
            <a:r>
              <a:rPr sz="1800" b="1" i="0">
                <a:solidFill>
                  <a:srgbClr val="333740"/>
                </a:solidFill>
                <a:latin typeface="맑은 고딕"/>
              </a:rPr>
              <a:t>●  결과 검증은 사람의 몫 — AI도 틀린다. 그래프·수치를 직접 확인할 것</a:t>
            </a:r>
          </a:p>
          <a:p>
            <a:pPr>
              <a:lnSpc>
                <a:spcPct val="110000"/>
              </a:lnSpc>
              <a:spcAft>
                <a:spcPts val="1500"/>
              </a:spcAft>
            </a:pPr>
            <a:r>
              <a:rPr sz="1800" b="1" i="0">
                <a:solidFill>
                  <a:srgbClr val="333740"/>
                </a:solidFill>
                <a:latin typeface="맑은 고딕"/>
              </a:rPr>
              <a:t>●  도메인 지식은 연구자가 — 시편 두께·음속·스캔 간격 같은 실험 파라미터는</a:t>
            </a:r>
          </a:p>
          <a:p>
            <a:pPr lvl="1">
              <a:lnSpc>
                <a:spcPct val="110000"/>
              </a:lnSpc>
              <a:spcAft>
                <a:spcPts val="1100"/>
              </a:spcAft>
            </a:pPr>
            <a:r>
              <a:rPr sz="1600" b="0" i="0">
                <a:solidFill>
                  <a:srgbClr val="555A66"/>
                </a:solidFill>
                <a:latin typeface="맑은 고딕"/>
              </a:rPr>
              <a:t>–  사람이 넣어야 정량 분석이 유효 (오늘도 그 값이 없어 정성 분석까지만)</a:t>
            </a:r>
          </a:p>
          <a:p>
            <a:pPr>
              <a:lnSpc>
                <a:spcPct val="110000"/>
              </a:lnSpc>
              <a:spcAft>
                <a:spcPts val="1500"/>
              </a:spcAft>
            </a:pPr>
            <a:r>
              <a:rPr sz="1800" b="1" i="0">
                <a:solidFill>
                  <a:srgbClr val="333740"/>
                </a:solidFill>
                <a:latin typeface="맑은 고딕"/>
              </a:rPr>
              <a:t>●  민감/미공개 데이터는 주의 — 무엇을 올리고 공유하는지 항상 인지</a:t>
            </a:r>
          </a:p>
          <a:p>
            <a:pPr>
              <a:lnSpc>
                <a:spcPct val="110000"/>
              </a:lnSpc>
              <a:spcAft>
                <a:spcPts val="1500"/>
              </a:spcAft>
            </a:pPr>
            <a:r>
              <a:rPr sz="1800" b="1" i="0">
                <a:solidFill>
                  <a:srgbClr val="333740"/>
                </a:solidFill>
                <a:latin typeface="맑은 고딕"/>
              </a:rPr>
              <a:t>●  AI는 '가속기'지 '대체재'가 아니다 — 연구의 판단과 해석은 여전히 사람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555A66"/>
                </a:solidFill>
                <a:latin typeface="맑은 고딕"/>
              </a:rPr>
              <a:t>Claude Code 활용 세미나   ·   레이저 초음파 데이터 분석 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i="0">
                <a:solidFill>
                  <a:srgbClr val="555A66"/>
                </a:solidFill>
                <a:latin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3810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515600" cy="677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sz="3800" b="1" dirty="0">
                <a:solidFill>
                  <a:srgbClr val="FFFFFF"/>
                </a:solidFill>
                <a:latin typeface="맑은 고딕"/>
              </a:rPr>
              <a:t>실제 환경 구축 진행</a:t>
            </a:r>
            <a:endParaRPr sz="3800" b="1" i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2194560"/>
            <a:ext cx="594360" cy="59436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194560"/>
            <a:ext cx="9875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맑은 고딕"/>
              </a:rPr>
              <a:t>VS Code 설치</a:t>
            </a:r>
          </a:p>
          <a:p>
            <a:r>
              <a:rPr sz="1400" b="0" i="0">
                <a:solidFill>
                  <a:srgbClr val="AEB9CC"/>
                </a:solidFill>
                <a:latin typeface="맑은 고딕"/>
              </a:rPr>
              <a:t>code.visualstudio.com 에서 무료 다운로드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63240"/>
            <a:ext cx="594360" cy="59436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063240"/>
            <a:ext cx="9875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맑은 고딕"/>
              </a:rPr>
              <a:t>Claude Code 설치</a:t>
            </a:r>
          </a:p>
          <a:p>
            <a:r>
              <a:rPr sz="1400" b="0" i="0">
                <a:solidFill>
                  <a:srgbClr val="AEB9CC"/>
                </a:solidFill>
                <a:latin typeface="맑은 고딕"/>
              </a:rPr>
              <a:t>터미널에서 안내대로 설치 후 로그인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931920"/>
            <a:ext cx="594360" cy="594360"/>
          </a:xfrm>
          <a:prstGeom prst="rect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594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3931920"/>
            <a:ext cx="9875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맑은 고딕"/>
              </a:rPr>
              <a:t>폴더 열고 대화 시작</a:t>
            </a:r>
          </a:p>
          <a:p>
            <a:r>
              <a:rPr sz="1400" b="0" i="0">
                <a:solidFill>
                  <a:srgbClr val="AEB9CC"/>
                </a:solidFill>
                <a:latin typeface="맑은 고딕"/>
              </a:rPr>
              <a:t>내 데이터 폴더를 열고 하고 싶은 걸 말해보기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12080"/>
            <a:ext cx="10515600" cy="81047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 i="0" dirty="0" err="1">
                <a:solidFill>
                  <a:srgbClr val="F5A623"/>
                </a:solidFill>
                <a:latin typeface="맑은 고딕"/>
              </a:rPr>
              <a:t>감사합니다</a:t>
            </a:r>
            <a:r>
              <a:rPr sz="2400" b="1" i="0" dirty="0">
                <a:solidFill>
                  <a:srgbClr val="F5A623"/>
                </a:solidFill>
                <a:latin typeface="맑은 고딕"/>
              </a:rPr>
              <a:t> — </a:t>
            </a:r>
            <a:r>
              <a:rPr sz="2400" b="1" i="0" dirty="0" err="1">
                <a:solidFill>
                  <a:srgbClr val="F5A623"/>
                </a:solidFill>
                <a:latin typeface="맑은 고딕"/>
              </a:rPr>
              <a:t>질문</a:t>
            </a:r>
            <a:r>
              <a:rPr sz="2400" b="1" i="0" dirty="0">
                <a:solidFill>
                  <a:srgbClr val="F5A623"/>
                </a:solidFill>
                <a:latin typeface="맑은 고딕"/>
              </a:rPr>
              <a:t> </a:t>
            </a:r>
            <a:r>
              <a:rPr sz="2400" b="1" i="0" dirty="0" err="1">
                <a:solidFill>
                  <a:srgbClr val="F5A623"/>
                </a:solidFill>
                <a:latin typeface="맑은 고딕"/>
              </a:rPr>
              <a:t>환영합니다</a:t>
            </a:r>
            <a:r>
              <a:rPr sz="2400" b="1" i="0" dirty="0">
                <a:solidFill>
                  <a:srgbClr val="F5A623"/>
                </a:solidFill>
                <a:latin typeface="맑은 고딕"/>
              </a:rPr>
              <a:t> :)</a:t>
            </a:r>
          </a:p>
          <a:p>
            <a:pPr>
              <a:spcBef>
                <a:spcPts val="800"/>
              </a:spcBef>
            </a:pPr>
            <a:r>
              <a:rPr sz="1600" b="0" i="0" dirty="0">
                <a:solidFill>
                  <a:srgbClr val="C9D6EA"/>
                </a:solidFill>
                <a:latin typeface="맑은 고딕"/>
              </a:rPr>
              <a:t>“</a:t>
            </a:r>
            <a:r>
              <a:rPr sz="1600" b="0" i="0" dirty="0" err="1">
                <a:solidFill>
                  <a:srgbClr val="C9D6EA"/>
                </a:solidFill>
                <a:latin typeface="맑은 고딕"/>
              </a:rPr>
              <a:t>코드를</a:t>
            </a:r>
            <a:r>
              <a:rPr sz="1600" b="0" i="0" dirty="0">
                <a:solidFill>
                  <a:srgbClr val="C9D6EA"/>
                </a:solidFill>
                <a:latin typeface="맑은 고딕"/>
              </a:rPr>
              <a:t> 못 </a:t>
            </a:r>
            <a:r>
              <a:rPr sz="1600" b="0" i="0" dirty="0" err="1">
                <a:solidFill>
                  <a:srgbClr val="C9D6EA"/>
                </a:solidFill>
                <a:latin typeface="맑은 고딕"/>
              </a:rPr>
              <a:t>짜도</a:t>
            </a:r>
            <a:r>
              <a:rPr sz="1600" b="0" i="0" dirty="0">
                <a:solidFill>
                  <a:srgbClr val="C9D6EA"/>
                </a:solidFill>
                <a:latin typeface="맑은 고딕"/>
              </a:rPr>
              <a:t>, </a:t>
            </a:r>
            <a:r>
              <a:rPr sz="1600" b="0" i="0" dirty="0" err="1">
                <a:solidFill>
                  <a:srgbClr val="C9D6EA"/>
                </a:solidFill>
                <a:latin typeface="맑은 고딕"/>
              </a:rPr>
              <a:t>분석은</a:t>
            </a:r>
            <a:r>
              <a:rPr sz="1600" b="0" i="0" dirty="0">
                <a:solidFill>
                  <a:srgbClr val="C9D6EA"/>
                </a:solidFill>
                <a:latin typeface="맑은 고딕"/>
              </a:rPr>
              <a:t> </a:t>
            </a:r>
            <a:r>
              <a:rPr sz="1600" b="0" i="0" dirty="0" err="1">
                <a:solidFill>
                  <a:srgbClr val="C9D6EA"/>
                </a:solidFill>
                <a:latin typeface="맑은 고딕"/>
              </a:rPr>
              <a:t>시작할</a:t>
            </a:r>
            <a:r>
              <a:rPr sz="1600" b="0" i="0" dirty="0">
                <a:solidFill>
                  <a:srgbClr val="C9D6EA"/>
                </a:solidFill>
                <a:latin typeface="맑은 고딕"/>
              </a:rPr>
              <a:t> 수 </a:t>
            </a:r>
            <a:r>
              <a:rPr sz="1600" b="0" i="0" dirty="0" err="1">
                <a:solidFill>
                  <a:srgbClr val="C9D6EA"/>
                </a:solidFill>
                <a:latin typeface="맑은 고딕"/>
              </a:rPr>
              <a:t>있습니다</a:t>
            </a:r>
            <a:r>
              <a:rPr sz="1600" b="0" i="0" dirty="0">
                <a:solidFill>
                  <a:srgbClr val="C9D6EA"/>
                </a:solidFill>
                <a:latin typeface="맑은 고딕"/>
              </a:rPr>
              <a:t>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1972</Words>
  <Application>Microsoft Office PowerPoint</Application>
  <PresentationFormat>와이드스크린</PresentationFormat>
  <Paragraphs>323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</cp:lastModifiedBy>
  <cp:revision>2</cp:revision>
  <dcterms:created xsi:type="dcterms:W3CDTF">2013-01-27T09:14:16Z</dcterms:created>
  <dcterms:modified xsi:type="dcterms:W3CDTF">2026-06-11T15:52:12Z</dcterms:modified>
  <cp:category/>
</cp:coreProperties>
</file>